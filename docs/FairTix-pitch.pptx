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เปิดด้วยปัญหาในประโยคเดียว: ตั๋วงานทุกวันนี้ปลอมได้ โก่งราคาได้ และศิลปินไม่ได้อะไรจากการขายต่อ FairTix แก้ทั้งหมดนี้ โดยคนซื้อแค่จ่ายด้วยบัตรเหมือนเดิม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ขอบคุณสปอนเซอร์ ElevenLabs, Tokenomist และ DTC Group และขอบคุณผู้ร่วมสนับสนุน (In association with) ได้แก่ ContributionDAO, CUBS, HooRay!, Yellow, Team1 Thailand และ Avalanche ซึ่งเป็นเครือข่ายที่ระบบของเราใช้งานอยู่ตอนนี้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ย้ำสี่ปัญหา: ตั๋วปลอม/ซ้ำ, ราคาโก่งนอกระบบ, ศิลปินไม่ได้ส่วนแบ่งการขายต่อ, ผู้จัดรอเงินนาน ทุกข้อมีคนเจอจริง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FairTix ไม่เปลี่ยนวิธีที่คนซื้อตั๋ว แค่จ่ายด้วยบัตรและล็อกอินด้วย Google ส่วนที่เปลี่ยนคือหลังบ้าน: ตั๋วเป็น NFT ที่โอนเองไม่ได้ และเงินแบ่งอัตโนมัติ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พาดูเส้นทางของตั๋วหนึ่งใบบนเว็บจริง: ซื้อด้วยบัตรทดสอบ 4242 → ตั๋วเข้า wallet → ลงขายต่อ → อีกบัญชีซื้อ → เปิด QR แล้วสแกนที่ /scan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ตัวอย่างหน้าเว็บจริงของ FairTix ทีละขั้น: 1 กด Sign in ด้วย Google แล้วกด Get ticket จ่ายด้วยบัตรทดสอบ 2 ตั๋วขึ้นที่ My tickets 3 กด Resell this ticket ใส่ราคาแล้วดูยอดที่ผู้ขายได้ก่อนยืนยัน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ที่ Resale market เลือกตั๋วแล้วกด Buy ticket จ่ายด้วย USDC หรือบัตร 5 เจ้าของตั๋วเปิด Show entry QR ที่เปลี่ยนทุก 15 วินาที 6 เจ้าหน้าที่ที่ประตูเปิดหน้า Gate scan ใส่ PIN แล้วสแกน ระบบตรวจเจ้าของบนเชนและเช็กอินได้ครั้งเดียว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ตัวเลขสำคัญสามตัว: ผู้จัดได้ $48.50 ทันทีจากตั๋ว $50, การขายต่อมีค่าธรรมเนียมเดียว 15%, ผู้ขายได้ 85% ทั้งหมดบังคับโดยสัญญา ไม่ใช่โดยบริษัท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เปรียบเทียบ flow: ฝั่งซื้อเหมือนเดิม คือจ่ายบัตร ส่วนที่ต่างคือหลังบ้าน เงินถึงผู้จัดทันที ขายต่อผ่านตลาดทางการที่แบ่งเงินอัตโนมัติ และเข้างานด้วย QR ที่หมุนและใช้ได้ครั้งเดียว Vendor ทั่วไปในที่นี้คือระบบขายตั๋วแบบรวมศูนย์โดยภาพรวม ไม่ใช่รายใดรายหนึ่ง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ตัวอย่างคำนวณ: ตั๋วหน้างาน 50 ดอลลาร์ขายต่อที่ 120 ดอลลาร์ vendor ทั่วไปโดยทั่วไปไม่แบ่งรายได้ขายต่อให้ศิลปิน ส่วน FairTix ศิลปินได้ 10 เปอร์เซ็นต์ของราคาขายต่อ คือ 12 ดอลลาร์ต่อใบ ขายต่อ 1,000 ใบ ศิลปินได้ 12,000 ดอลลาร์ ตัวเลขเป็นตัวอย่างจากอัตราของ FairTix และเป็นสมมติฐานฝั่ง vendor ทั่วไป ไม่ใช่ทุกรายเหมือนกัน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เปรียบเทียบต้นทุนการดำเนินงาน: เราประหยัดที่ฐานข้อมูล การปิดงวดและแบ่งเงิน ตั๋วปลอมและข้อพิพาท และระบบขายต่อ แต่เรามีต้นทุนที่เพิ่มคือ gas, RPC, การตรวจสอบสัญญา และ KYC/กฎหมาย ตัวเลข gas เป็นประมาณการ ต้องวัดจริงบน mainnet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สถาปัตยกรรมและ tech stack: เว็บ Next.js, จ่ายผ่าน Stripe, ล็อกอิน Clerk, สัญญาสี่ตัวบน Avalanche Fuji (testnet) ไม่มีฐานข้อมูลเพราะเชนคือฐานข้อมูล ป้ายสีคือเครือข่ายและพาร์ตเนอร์: Avalanche (เครือข่ายที่ใช้ตอนนี้ ผู้ร่วมสนับสนุนของงาน), Aave (DeFi yield ในอนาคต), Tokenomist (สปอนเซอร์ แต้ม FAIR ในอนาคต)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รายได้ปัจจุบันมาจากสองทาง: ตั๋วรอบแรก (ค่าบริการผู้ซื้อ 2.50 ดอลลาร์ และส่วนแบ่งแพลตฟอร์ม 1.50 ดอลลาร์ต่อใบ) และค่าธรรมเนียมขายต่อ 15 เปอร์เซ็นต์ ซึ่งทำงานจริงในระบบแล้ว ส่วน DeFi yield จาก Aave เป็นแผนในอนาคต ไม่ได้อยู่ในเดโม และไม่ใช่รายได้หลัก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เล่า roadmap จากซ้ายไปขวา: MVP ที่ใช้งานได้ตอนนี้บน Avalanche Fuji (บอกตรงๆ ว่า Stripe เป็น USDC ยังจำลอง) → ขึ้น Avalanche mainnet → escrow ของผู้ซื้อที่ฝาก Aave ได้ดอกเบี้ยเป็นรายได้เสริม → แต้ม FAIR ที่ล็อกแล้วปลดเมื่อสแกนเข้างานจริง ออกแบบตามแนวทาง Tokenomist → presale เฉพาะแฟนจริงและแลก merch → ก้าวสู่ใช้งานจริง ถอนเงินจริง KYC และ embedded wallet แทน custodial ย้ำว่าดอกเบี้ยเป็นรายได้เสริม ไม่ใช่รายได้หลัก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ปิดท้าย: เชิญสแกน QR เปิดเว็บจริงและลองซื้อด้วยบัตรทดสอบ โค้ดทั้งหมดเปิดบน GitHub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0972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FairTix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48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ตั๋วงานที่ยุติธรรม บนบล็อกเชน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7432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ซื้อด้วยบัตร · ขายต่ออย่างปลอดภัย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ผู้จัดงานได้เงินทันที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93192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4A7BD6"/>
          </a:solidFill>
          <a:ln w="12700">
            <a:solidFill>
              <a:srgbClr val="4A7B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3931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fairtix-demo.vercel.app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572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SPONSORS</a:t>
            </a:r>
            <a:endParaRPr lang="en-US" sz="1000" dirty="0"/>
          </a:p>
        </p:txBody>
      </p:sp>
      <p:pic>
        <p:nvPicPr>
          <p:cNvPr id="9" name="Image 0" descr="ElevenLab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4619747"/>
            <a:ext cx="1371600" cy="178827"/>
          </a:xfrm>
          <a:prstGeom prst="rect">
            <a:avLst/>
          </a:prstGeom>
        </p:spPr>
      </p:pic>
      <p:pic>
        <p:nvPicPr>
          <p:cNvPr id="10" name="Image 1" descr="Tokenomist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592455"/>
            <a:ext cx="1188720" cy="233409"/>
          </a:xfrm>
          <a:prstGeom prst="rect">
            <a:avLst/>
          </a:prstGeom>
        </p:spPr>
      </p:pic>
      <p:pic>
        <p:nvPicPr>
          <p:cNvPr id="11" name="Image 2" descr="DTC Group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578698"/>
            <a:ext cx="1097280" cy="26092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486400" y="1051560"/>
            <a:ext cx="3108960" cy="3017520"/>
          </a:xfrm>
          <a:prstGeom prst="roundRect">
            <a:avLst>
              <a:gd name="adj" fmla="val 3636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5330952" y="2743200"/>
            <a:ext cx="310896" cy="310896"/>
          </a:xfrm>
          <a:prstGeom prst="ellipse">
            <a:avLst/>
          </a:prstGeom>
          <a:solidFill>
            <a:srgbClr val="09090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8439912" y="2743200"/>
            <a:ext cx="310896" cy="310896"/>
          </a:xfrm>
          <a:prstGeom prst="ellipse">
            <a:avLst/>
          </a:prstGeom>
          <a:solidFill>
            <a:srgbClr val="09090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5760720" y="2898648"/>
            <a:ext cx="2560320" cy="0"/>
          </a:xfrm>
          <a:prstGeom prst="line">
            <a:avLst/>
          </a:prstGeom>
          <a:noFill/>
          <a:ln w="12700">
            <a:solidFill>
              <a:srgbClr val="A1A1AA"/>
            </a:solidFill>
            <a:prstDash val="dash"/>
          </a:ln>
        </p:spPr>
      </p:sp>
      <p:sp>
        <p:nvSpPr>
          <p:cNvPr id="16" name="Text 10"/>
          <p:cNvSpPr txBox="1"/>
          <p:nvPr/>
        </p:nvSpPr>
        <p:spPr>
          <a:xfrm>
            <a:off x="576072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GENERAL ADMISSION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5760720" y="16459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Demo Concert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2026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5760720" y="2331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TICKET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5760720" y="2514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A7B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#16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5760720" y="3200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ตั๋วบนเชน ตรวจสอบได้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5760720" y="3520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โอนเองไม่ได้ ขายต่อผ่านตลาดทางการเท่านั้น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ขอบคุณสปอนเซอร์และพันธมิตร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618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SPONSORS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8046720" cy="1188720"/>
          </a:xfrm>
          <a:prstGeom prst="roundRect">
            <a:avLst>
              <a:gd name="adj" fmla="val 9231"/>
            </a:avLst>
          </a:prstGeom>
          <a:solidFill>
            <a:srgbClr val="111113"/>
          </a:solidFill>
          <a:ln w="9525">
            <a:solidFill>
              <a:srgbClr val="27272A"/>
            </a:solidFill>
            <a:prstDash val="solid"/>
          </a:ln>
        </p:spPr>
      </p:sp>
      <p:pic>
        <p:nvPicPr>
          <p:cNvPr id="6" name="Image 0" descr="ElevenLab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54098"/>
            <a:ext cx="2286000" cy="298044"/>
          </a:xfrm>
          <a:prstGeom prst="rect">
            <a:avLst/>
          </a:prstGeom>
        </p:spPr>
      </p:pic>
      <p:pic>
        <p:nvPicPr>
          <p:cNvPr id="7" name="Image 1" descr="Tokenomist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896643"/>
            <a:ext cx="2103120" cy="412955"/>
          </a:xfrm>
          <a:prstGeom prst="rect">
            <a:avLst/>
          </a:prstGeom>
        </p:spPr>
      </p:pic>
      <p:pic>
        <p:nvPicPr>
          <p:cNvPr id="8" name="Image 2" descr="DTC Group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85683"/>
            <a:ext cx="1828800" cy="434874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548640" y="2926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 ASSOCIATION WITH</a:t>
            </a:r>
            <a:endParaRPr lang="en-US" sz="1000" dirty="0"/>
          </a:p>
        </p:txBody>
      </p:sp>
      <p:sp>
        <p:nvSpPr>
          <p:cNvPr id="10" name="Shape 4"/>
          <p:cNvSpPr/>
          <p:nvPr/>
        </p:nvSpPr>
        <p:spPr>
          <a:xfrm>
            <a:off x="548640" y="3172968"/>
            <a:ext cx="8046720" cy="1554480"/>
          </a:xfrm>
          <a:prstGeom prst="roundRect">
            <a:avLst>
              <a:gd name="adj" fmla="val 7059"/>
            </a:avLst>
          </a:prstGeom>
          <a:solidFill>
            <a:srgbClr val="111113"/>
          </a:solidFill>
          <a:ln w="9525">
            <a:solidFill>
              <a:srgbClr val="27272A"/>
            </a:solidFill>
            <a:prstDash val="solid"/>
          </a:ln>
        </p:spPr>
      </p:sp>
      <p:pic>
        <p:nvPicPr>
          <p:cNvPr id="11" name="Image 3" descr="ContributionDAO log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94477"/>
            <a:ext cx="2194560" cy="289669"/>
          </a:xfrm>
          <a:prstGeom prst="rect">
            <a:avLst/>
          </a:prstGeom>
        </p:spPr>
      </p:pic>
      <p:pic>
        <p:nvPicPr>
          <p:cNvPr id="12" name="Image 4" descr="CUBS log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6972" y="3355848"/>
            <a:ext cx="550055" cy="566928"/>
          </a:xfrm>
          <a:prstGeom prst="rect">
            <a:avLst/>
          </a:prstGeom>
        </p:spPr>
      </p:pic>
      <p:pic>
        <p:nvPicPr>
          <p:cNvPr id="13" name="Image 5" descr="HooRay! log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5882" y="3410712"/>
            <a:ext cx="1618635" cy="457200"/>
          </a:xfrm>
          <a:prstGeom prst="rect">
            <a:avLst/>
          </a:prstGeom>
        </p:spPr>
      </p:pic>
      <p:pic>
        <p:nvPicPr>
          <p:cNvPr id="14" name="Image 6" descr="Yellow log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5568" y="4069080"/>
            <a:ext cx="1426464" cy="384048"/>
          </a:xfrm>
          <a:prstGeom prst="rect">
            <a:avLst/>
          </a:prstGeom>
        </p:spPr>
      </p:pic>
      <p:pic>
        <p:nvPicPr>
          <p:cNvPr id="15" name="Image 7" descr="Team1 Thailand log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0" y="4138605"/>
            <a:ext cx="2194560" cy="244998"/>
          </a:xfrm>
          <a:prstGeom prst="rect">
            <a:avLst/>
          </a:prstGeom>
        </p:spPr>
      </p:pic>
      <p:pic>
        <p:nvPicPr>
          <p:cNvPr id="16" name="Image 8" descr="Avalanche logo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9360" y="4110746"/>
            <a:ext cx="2011680" cy="3007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ปัญหาของตั๋วงานในวันนี้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111113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rgbClr val="4A7BD6"/>
          </a:solidFill>
          <a:ln w="12700">
            <a:solidFill>
              <a:srgbClr val="4A7B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536192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ตั๋วปลอมและตั๋วซ้ำ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19456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แคปรูป QR ส่งต่อได้ ซื้อมาแล้วถูกปฏิเสธที่ประตู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137160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111113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600200"/>
            <a:ext cx="457200" cy="457200"/>
          </a:xfrm>
          <a:prstGeom prst="ellipse">
            <a:avLst/>
          </a:prstGeom>
          <a:solidFill>
            <a:srgbClr val="4A7BD6"/>
          </a:solidFill>
          <a:ln w="12700">
            <a:solidFill>
              <a:srgbClr val="4A7B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920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532120" y="1536192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ขายต่อนอกระบบ ราคาโก่ง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892040" y="219456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ไม่มีกติกา ผู้ซื้อเสี่ยงโดนหลอก ไม่มีใครรับผิดชอบ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06324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111113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7240" y="3291840"/>
            <a:ext cx="457200" cy="457200"/>
          </a:xfrm>
          <a:prstGeom prst="ellipse">
            <a:avLst/>
          </a:prstGeom>
          <a:solidFill>
            <a:srgbClr val="4A7BD6"/>
          </a:solidFill>
          <a:ln w="12700">
            <a:solidFill>
              <a:srgbClr val="4A7BD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3227832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ศิลปินไม่ได้อะไรจากการขายต่อ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38862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ตั๋วถูกขายต่อหลายเท่า แต่เงินไม่ย้อนกลับไปที่ศิลปิน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663440" y="306324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111113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92040" y="3291840"/>
            <a:ext cx="457200" cy="457200"/>
          </a:xfrm>
          <a:prstGeom prst="ellipse">
            <a:avLst/>
          </a:prstGeom>
          <a:solidFill>
            <a:srgbClr val="4A7BD6"/>
          </a:solidFill>
          <a:ln w="12700">
            <a:solidFill>
              <a:srgbClr val="4A7BD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920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532120" y="3227832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ผู้จัดรอเงินหลายวัน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892040" y="388620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เงินจากการขายตั๋วเข้าช้า ทำให้วางแผนงานยาก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FairTix: ซื้อง่าย ขายต่อยุติธรรม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4A7BD6"/>
          </a:solidFill>
          <a:ln w="12700">
            <a:solidFill>
              <a:srgbClr val="4A7BD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1371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จ่ายด้วยบัตร ไม่ต้องมี wallet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737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ล็อกอิน Google แล้วจ่ายเหมือนร้านออนไลน์ทั่วไป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286000"/>
            <a:ext cx="502920" cy="502920"/>
          </a:xfrm>
          <a:prstGeom prst="ellipse">
            <a:avLst/>
          </a:prstGeom>
          <a:solidFill>
            <a:srgbClr val="4A7BD6"/>
          </a:solidFill>
          <a:ln w="12700">
            <a:solidFill>
              <a:srgbClr val="4A7B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2240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ตั๋วคือ NFT ที่โอนเองไม่ได้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2606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ตรวจสอบได้บนเชน กันตั๋วปลอมและตั๋วซ้ำ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4A7BD6"/>
          </a:solidFill>
          <a:ln w="12700">
            <a:solidFill>
              <a:srgbClr val="4A7B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2344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ขายต่อผ่านตลาดทางการ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3474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ตั๋วถูกพักใน escrow ผู้ซื้อไม่โดนโกง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4A7BD6"/>
          </a:solidFill>
          <a:ln w="12700">
            <a:solidFill>
              <a:srgbClr val="4A7B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234440" y="3977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เงินแบ่งอัตโนมัติบนสัญญา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1234440" y="4343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ไม่มีใครแก้ตัวเลขได้ ตรวจสอบย้อนหลังได้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852160" y="137160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852160" y="1965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A7B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$48.50</a:t>
            </a:r>
            <a:endParaRPr lang="en-US" sz="4800" dirty="0"/>
          </a:p>
        </p:txBody>
      </p:sp>
      <p:sp>
        <p:nvSpPr>
          <p:cNvPr id="22" name="Text 19"/>
          <p:cNvSpPr txBox="1"/>
          <p:nvPr/>
        </p:nvSpPr>
        <p:spPr>
          <a:xfrm>
            <a:off x="6035040" y="2926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ผู้จัดงานได้รับทันที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ตอนที่ขายตั๋ว $50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035040" y="3840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ไม่ต้องรอ settlement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เดโม: เส้นทางของตั๋วหนึ่งใบ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1325880" y="2057400"/>
            <a:ext cx="6492240" cy="0"/>
          </a:xfrm>
          <a:prstGeom prst="line">
            <a:avLst/>
          </a:prstGeom>
          <a:noFill/>
          <a:ln w="25400">
            <a:solidFill>
              <a:srgbClr val="27272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51560" y="1783080"/>
            <a:ext cx="548640" cy="548640"/>
          </a:xfrm>
          <a:prstGeom prst="ellipse">
            <a:avLst/>
          </a:prstGeom>
          <a:solidFill>
            <a:srgbClr val="4A7BD6"/>
          </a:solidFill>
          <a:ln w="12700">
            <a:solidFill>
              <a:srgbClr val="4A7B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515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06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ซื้อด้วยบัตร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46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Stripe Checkout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674620" y="1783080"/>
            <a:ext cx="548640" cy="548640"/>
          </a:xfrm>
          <a:prstGeom prst="ellipse">
            <a:avLst/>
          </a:prstGeom>
          <a:solidFill>
            <a:srgbClr val="4A7BD6"/>
          </a:solidFill>
          <a:ln w="12700">
            <a:solidFill>
              <a:srgbClr val="4A7B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746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2171700" y="2606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ตั๋วเข้ากระเป๋า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171700" y="3246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mint เป็น NFT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97680" y="1783080"/>
            <a:ext cx="548640" cy="548640"/>
          </a:xfrm>
          <a:prstGeom prst="ellipse">
            <a:avLst/>
          </a:prstGeom>
          <a:solidFill>
            <a:srgbClr val="4A7BD6"/>
          </a:solidFill>
          <a:ln w="12700">
            <a:solidFill>
              <a:srgbClr val="4A7B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976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3794760" y="2606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ลงขายต่อ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794760" y="3246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เห็นยอดที่ได้ก่อนยืนยัน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920740" y="1783080"/>
            <a:ext cx="548640" cy="548640"/>
          </a:xfrm>
          <a:prstGeom prst="ellipse">
            <a:avLst/>
          </a:prstGeom>
          <a:solidFill>
            <a:srgbClr val="4A7BD6"/>
          </a:solidFill>
          <a:ln w="12700">
            <a:solidFill>
              <a:srgbClr val="4A7BD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207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17820" y="2606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อีกคนซื้อ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417820" y="3246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จ่าย USDC หรือบัตร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543800" y="1783080"/>
            <a:ext cx="548640" cy="548640"/>
          </a:xfrm>
          <a:prstGeom prst="ellipse">
            <a:avLst/>
          </a:prstGeom>
          <a:solidFill>
            <a:srgbClr val="4A7BD6"/>
          </a:solidFill>
          <a:ln w="12700">
            <a:solidFill>
              <a:srgbClr val="4A7B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54380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2606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สแกน QR เข้างาน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3246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เช็กอินครั้งเดียว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2011680" y="4023360"/>
            <a:ext cx="5120640" cy="548640"/>
          </a:xfrm>
          <a:prstGeom prst="roundRect">
            <a:avLst>
              <a:gd name="adj" fmla="val 20000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011680" y="40233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ลองเอง: fairtix-demo.vercel.app  ·  บัตรทดสอบ 4242 4242 4242 4242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หน้าเว็บเดโม: ขั้นตอนที่ 1–3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21208" y="1207008"/>
            <a:ext cx="2615184" cy="1975104"/>
          </a:xfrm>
          <a:prstGeom prst="roundRect">
            <a:avLst>
              <a:gd name="adj" fmla="val 3704"/>
            </a:avLst>
          </a:prstGeom>
          <a:solidFill>
            <a:srgbClr val="27272A"/>
          </a:solidFill>
          <a:ln w="12700">
            <a:solidFill>
              <a:srgbClr val="27272A"/>
            </a:solidFill>
            <a:prstDash val="solid"/>
          </a:ln>
        </p:spPr>
      </p:sp>
      <p:pic>
        <p:nvPicPr>
          <p:cNvPr id="5" name="Image 0" descr="หน้าเว็บ: ซื้อตั๋ว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2560320" cy="19202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3337560"/>
            <a:ext cx="365760" cy="365760"/>
          </a:xfrm>
          <a:prstGeom prst="ellipse">
            <a:avLst/>
          </a:prstGeom>
          <a:solidFill>
            <a:srgbClr val="4A7BD6"/>
          </a:solidFill>
          <a:ln w="12700">
            <a:solidFill>
              <a:srgbClr val="4A7BD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1024128" y="33375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ซื้อตั๋ว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37947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Sign in ด้วย Google แล้วกด Get ticket จ่ายด้วยบัตรทดสอบ 4242 4242 4242 4242 ไม่ต้องมี wallet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291840" y="123444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291840" y="1234440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ภาพหน้าจอ (รอใส่)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91840" y="3337560"/>
            <a:ext cx="365760" cy="365760"/>
          </a:xfrm>
          <a:prstGeom prst="ellipse">
            <a:avLst/>
          </a:prstGeom>
          <a:solidFill>
            <a:srgbClr val="4A7BD6"/>
          </a:solidFill>
          <a:ln w="12700">
            <a:solidFill>
              <a:srgbClr val="4A7BD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2918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767328" y="33375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ตั๋วเข้ากระเป๋า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291840" y="37947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จ่ายเสร็จ ตั๋วขึ้นที่ My tickets ภายในไม่กี่วินาที เป็น NFT ที่ผูกกับบัญชีของคุณ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35040" y="123444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035040" y="1234440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ภาพหน้าจอ (รอใส่)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035040" y="3337560"/>
            <a:ext cx="365760" cy="365760"/>
          </a:xfrm>
          <a:prstGeom prst="ellipse">
            <a:avLst/>
          </a:prstGeom>
          <a:solidFill>
            <a:srgbClr val="4A7BD6"/>
          </a:solidFill>
          <a:ln w="12700">
            <a:solidFill>
              <a:srgbClr val="4A7BD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0350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6510528" y="33375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ลงขายต่อ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6035040" y="37947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Resell this ticket ใส่ราคา ระบบแสดงยอดที่ได้ก่อนยืนยัน (ค่าธรรมเนียม 15% ผู้ขายได้ 85%)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หน้าเว็บเดโม: ขั้นตอนที่ 4–6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21208" y="1207008"/>
            <a:ext cx="2615184" cy="1975104"/>
          </a:xfrm>
          <a:prstGeom prst="roundRect">
            <a:avLst>
              <a:gd name="adj" fmla="val 3704"/>
            </a:avLst>
          </a:prstGeom>
          <a:solidFill>
            <a:srgbClr val="27272A"/>
          </a:solidFill>
          <a:ln w="12700">
            <a:solidFill>
              <a:srgbClr val="27272A"/>
            </a:solidFill>
            <a:prstDash val="solid"/>
          </a:ln>
        </p:spPr>
      </p:sp>
      <p:pic>
        <p:nvPicPr>
          <p:cNvPr id="5" name="Image 0" descr="หน้าเว็บ: ซื้อต่อ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2560320" cy="19202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3337560"/>
            <a:ext cx="365760" cy="365760"/>
          </a:xfrm>
          <a:prstGeom prst="ellipse">
            <a:avLst/>
          </a:prstGeom>
          <a:solidFill>
            <a:srgbClr val="4A7BD6"/>
          </a:solidFill>
          <a:ln w="12700">
            <a:solidFill>
              <a:srgbClr val="4A7BD6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1024128" y="33375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ซื้อต่อ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37947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 Resale market เลือกตั๋วแล้วกด Buy ticket จ่ายด้วย USDC ในกระเป๋า ถ้าไม่พอจะพาไปจ่ายบัตร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291840" y="123444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291840" y="1234440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ภาพหน้าจอ (รอใส่)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91840" y="3337560"/>
            <a:ext cx="365760" cy="365760"/>
          </a:xfrm>
          <a:prstGeom prst="ellipse">
            <a:avLst/>
          </a:prstGeom>
          <a:solidFill>
            <a:srgbClr val="4A7BD6"/>
          </a:solidFill>
          <a:ln w="12700">
            <a:solidFill>
              <a:srgbClr val="4A7BD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2918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767328" y="33375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QR เข้างาน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291840" y="37947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My tickets → Show entry QR รหัสเปลี่ยนทุก 15 วินาที หมดอายุใน 30 วินาที แคปส่งต่อไม่ได้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07608" y="1207008"/>
            <a:ext cx="2615184" cy="1975104"/>
          </a:xfrm>
          <a:prstGeom prst="roundRect">
            <a:avLst>
              <a:gd name="adj" fmla="val 3704"/>
            </a:avLst>
          </a:prstGeom>
          <a:solidFill>
            <a:srgbClr val="27272A"/>
          </a:solidFill>
          <a:ln w="12700">
            <a:solidFill>
              <a:srgbClr val="27272A"/>
            </a:solidFill>
            <a:prstDash val="solid"/>
          </a:ln>
        </p:spPr>
      </p:sp>
      <p:pic>
        <p:nvPicPr>
          <p:cNvPr id="17" name="Image 1" descr="หน้าเว็บ: สแกนที่ประตู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35040" y="1234440"/>
            <a:ext cx="2560320" cy="192024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035040" y="3337560"/>
            <a:ext cx="365760" cy="365760"/>
          </a:xfrm>
          <a:prstGeom prst="ellipse">
            <a:avLst/>
          </a:prstGeom>
          <a:solidFill>
            <a:srgbClr val="4A7BD6"/>
          </a:solidFill>
          <a:ln w="12700">
            <a:solidFill>
              <a:srgbClr val="4A7B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0350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510528" y="333756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สแกนที่ประตู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035040" y="37947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เจ้าหน้าที่เปิดหน้า Gate scan ใส่ PIN แล้วสแกน ระบบตรวจเจ้าของบนเชนและเช็กอินได้ครั้งเดียว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เงินไหลอย่างไร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2560320" cy="2468880"/>
          </a:xfrm>
          <a:prstGeom prst="roundRect">
            <a:avLst>
              <a:gd name="adj" fmla="val 4444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6002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$48.50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ผู้จัดงานได้ทันที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63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จากตั๋ว $50 ตอนขายรอบแรก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371600"/>
            <a:ext cx="2560320" cy="2468880"/>
          </a:xfrm>
          <a:prstGeom prst="roundRect">
            <a:avLst>
              <a:gd name="adj" fmla="val 4444"/>
            </a:avLst>
          </a:prstGeom>
          <a:solidFill>
            <a:srgbClr val="111113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91840" y="16002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A7B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15%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ค่าธรรมเนียมขายต่อ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3063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คิดอัตโนมัติ ทุกครั้งที่ขายต่อ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35040" y="1371600"/>
            <a:ext cx="2560320" cy="2468880"/>
          </a:xfrm>
          <a:prstGeom prst="roundRect">
            <a:avLst>
              <a:gd name="adj" fmla="val 4444"/>
            </a:avLst>
          </a:prstGeom>
          <a:solidFill>
            <a:srgbClr val="111113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035040" y="16002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85%</a:t>
            </a:r>
            <a:endParaRPr lang="en-US" sz="48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ผู้ขายได้รับ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30632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ตัวอย่าง: ขาย $120 ได้ $102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ซื้อรอบแรก $52.50 = ตั๋ว $50 + ค่าบริการ $2.50  ·  ตัวเลขทั้งหมดอยู่ในสัญญา ตรวจสอบได้บนเชน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Flow: Vendor ทั่วไป vs FairTix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3383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ขั้นตอน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Vendor ทั่วไป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FairTix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BD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AFAF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  ซื้อตั๋ว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จ่ายบัตร ตั๋วเป็นไฟล์/QR ในฐานข้อมูลของ vendor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AFAF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จ่ายบัตรเหมือนกัน ตั๋วเป็น NFT บนเชน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AFAF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  เงินถึงผู้จัด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รอปิดงวด หลายวันถึงหลายสัปดาห์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AFAF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$48.50 จ่ายเข้าสัญญาทันทีตอนขาย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AFAF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  ขายต่อ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นอกระบบ ราคาไม่ควบคุม ศิลปินไม่ได้ส่วนแบ่ง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AFAF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ตลาดทางการ escrow แบ่งเงินอัตโนมัติ 85/10/5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AFAF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  กันปลอม/ซ้ำ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ตรวจในฐานข้อมูล แคป QR ส่งต่อได้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AFAF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ตรวจเจ้าของบนเชน ตั๋วโอนเองไม่ได้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AFAF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  เข้างาน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สแกน QR/บาร์โค้ดนิ่ง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AFAF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QR หมุนทุก 15 วิ หมดอายุ 30 วิ เช็กอินครั้งเดียวบนเชน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D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Vendor ทั่วไป = ระบบขายตั๋วแบบรวมศูนย์โดยภาพรวม ไม่ใช่รายใดรายหนึ่ง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ศิลปินได้มากขึ้นอย่างไร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ตัวอย่าง: ตั๋ว $50 ขายต่อที่ $120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651760"/>
                <a:gridCol w="26517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Vendor ทั่วไป*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FairTix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BD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AFAF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ศิลปินได้จากการขายต่อ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$0 (ไม่มีส่วนแบ่ง)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AFAF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$12.00 (10%)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AFAF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ผู้ขายได้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$120 หักค่าธรรมเนียมของ vendor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AFAF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$102.00 (85%)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AFAF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แพลตฟอร์มได้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ตามที่ vendor กำหนด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AFAF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$6.00 (5%)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AFAF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ขายต่อ 1,000 ใบ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ศิลปินได้ $0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AFAF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ศิลปินได้ $12,000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D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3977640"/>
            <a:ext cx="8046720" cy="502920"/>
          </a:xfrm>
          <a:prstGeom prst="roundRect">
            <a:avLst>
              <a:gd name="adj" fmla="val 21818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3977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ทุกการขายต่อ ศิลปินได้ส่วนแบ่งอัตโนมัติ ตรวจสอบได้บนเชน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*สมมติฐาน: vendor ทั่วไปไม่แบ่งรายได้ขายต่อให้ศิลปิน (เป็นกรณีทั่วไป ไม่ใช่ทุกราย) ตัวเลขคำนวณจากอัตราของ FairTix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ต้นทุนการดำเนินงาน (Operational cost)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31089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Vendor ทั่วไป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2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FairTix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BD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AFAF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โครงสร้างพื้นฐาน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ฐานข้อมูล/เซิร์ฟเวอร์ตั๋ว สำรอง ปรับขนาด ดูแล 24/7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AFAF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ไม่มีฐานข้อมูล เชนเป็นฐานข้อมูล เว็บบน serverless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AFAF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ปิดงวดและแบ่งเงิน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ทีมบัญชีกระทบยอด จ่ายผู้จัดและศิลปินเอง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AFAF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สัญญาแบ่งเงินอัตโนมัติ ตรวจสอบได้บนเชน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AFAF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ตั๋วปลอม ซ้ำ ข้อพิพาท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ซัพพอร์ตและเครื่องมือกันโกงเพิ่ม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AFAF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NFT + เช็กอินบนเชน ลดเคสลง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AFAF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ระบบขายต่อ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พัฒนาและดูแลตลาด พร้อมตรวจโกง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AFAF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Marketplace contract ทำ escrow อัตโนมัติ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AFAF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ต้นทุนที่เราเพิ่ม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1A1A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-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AFAF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gas ต่อธุรกรรม, RPC, audit สัญญา, KYC/กฎหมาย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2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D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ประมาณการ: gas ราว $0.01–0.10 ต่อตั๋ว (ต้องวัดจริงบน mainnet) ต้นทุนของ vendor ทั่วไปต่างกันไปตามราย และยังไม่ได้อ้างอิงแหล่งข้อมูลเฉพาะราย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Tech stack และสถาปัตยกรรม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234440"/>
            <a:ext cx="2377440" cy="685800"/>
          </a:xfrm>
          <a:prstGeom prst="roundRect">
            <a:avLst>
              <a:gd name="adj" fmla="val 16000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307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600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ล็อกอิน Google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99232" y="1463040"/>
            <a:ext cx="310896" cy="228600"/>
          </a:xfrm>
          <a:prstGeom prst="rightArrow">
            <a:avLst/>
          </a:prstGeom>
          <a:solidFill>
            <a:srgbClr val="4A7BD6"/>
          </a:solidFill>
          <a:ln w="12700">
            <a:solidFill>
              <a:srgbClr val="4A7B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83280" y="1234440"/>
            <a:ext cx="2377440" cy="685800"/>
          </a:xfrm>
          <a:prstGeom prst="roundRect">
            <a:avLst>
              <a:gd name="adj" fmla="val 16000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83280" y="1307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เว็บแอป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1600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Next.js + viem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33872" y="1463040"/>
            <a:ext cx="310896" cy="228600"/>
          </a:xfrm>
          <a:prstGeom prst="rightArrow">
            <a:avLst/>
          </a:prstGeom>
          <a:solidFill>
            <a:srgbClr val="4A7BD6"/>
          </a:solidFill>
          <a:ln w="12700">
            <a:solidFill>
              <a:srgbClr val="4A7B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0" y="1234440"/>
            <a:ext cx="2377440" cy="685800"/>
          </a:xfrm>
          <a:prstGeom prst="roundRect">
            <a:avLst>
              <a:gd name="adj" fmla="val 16000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0" y="1307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Stripe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1600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จ่ายบัตร + webhook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434840" y="1965960"/>
            <a:ext cx="274320" cy="274320"/>
          </a:xfrm>
          <a:prstGeom prst="downArrow">
            <a:avLst/>
          </a:prstGeom>
          <a:solidFill>
            <a:srgbClr val="4A7BD6"/>
          </a:solidFill>
          <a:ln w="12700">
            <a:solidFill>
              <a:srgbClr val="4A7BD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2286000"/>
            <a:ext cx="8046720" cy="960120"/>
          </a:xfrm>
          <a:prstGeom prst="roundRect">
            <a:avLst>
              <a:gd name="adj" fmla="val 11429"/>
            </a:avLst>
          </a:prstGeom>
          <a:solidFill>
            <a:srgbClr val="111113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23500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Smart contracts (Solidity) บน Avalanche Fuji (testnet) · mainnet ในอนาคต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77240" y="2697480"/>
            <a:ext cx="1783080" cy="411480"/>
          </a:xfrm>
          <a:prstGeom prst="roundRect">
            <a:avLst>
              <a:gd name="adj" fmla="val 22222"/>
            </a:avLst>
          </a:prstGeom>
          <a:solidFill>
            <a:srgbClr val="4A7BD6"/>
          </a:solidFill>
          <a:ln w="12700">
            <a:solidFill>
              <a:srgbClr val="4A7BD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26974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TicketNFT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2743200" y="2697480"/>
            <a:ext cx="1783080" cy="411480"/>
          </a:xfrm>
          <a:prstGeom prst="roundRect">
            <a:avLst>
              <a:gd name="adj" fmla="val 22222"/>
            </a:avLst>
          </a:prstGeom>
          <a:solidFill>
            <a:srgbClr val="4A7BD6"/>
          </a:solidFill>
          <a:ln w="12700">
            <a:solidFill>
              <a:srgbClr val="4A7BD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743200" y="26974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PrimarySale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709160" y="2697480"/>
            <a:ext cx="1783080" cy="411480"/>
          </a:xfrm>
          <a:prstGeom prst="roundRect">
            <a:avLst>
              <a:gd name="adj" fmla="val 22222"/>
            </a:avLst>
          </a:prstGeom>
          <a:solidFill>
            <a:srgbClr val="4A7BD6"/>
          </a:solidFill>
          <a:ln w="12700">
            <a:solidFill>
              <a:srgbClr val="4A7BD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709160" y="26974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Marketplace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675120" y="2697480"/>
            <a:ext cx="1783080" cy="411480"/>
          </a:xfrm>
          <a:prstGeom prst="roundRect">
            <a:avLst>
              <a:gd name="adj" fmla="val 22222"/>
            </a:avLst>
          </a:prstGeom>
          <a:solidFill>
            <a:srgbClr val="4A7BD6"/>
          </a:solidFill>
          <a:ln w="12700">
            <a:solidFill>
              <a:srgbClr val="4A7BD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675120" y="26974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CheckIn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3383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8640" y="3657600"/>
            <a:ext cx="1252728" cy="310896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8640" y="3657600"/>
            <a:ext cx="1252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Next.js 14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1911096" y="3657600"/>
            <a:ext cx="1084478" cy="310896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911096" y="3657600"/>
            <a:ext cx="10844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Tailwind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105302" y="3657600"/>
            <a:ext cx="747979" cy="310896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105302" y="3657600"/>
            <a:ext cx="7479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viem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963010" y="3657600"/>
            <a:ext cx="1084478" cy="310896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963010" y="3657600"/>
            <a:ext cx="10844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Solidity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157216" y="3657600"/>
            <a:ext cx="1000354" cy="310896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157216" y="3657600"/>
            <a:ext cx="100035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Hardhat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267298" y="3657600"/>
            <a:ext cx="1420978" cy="310896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267298" y="3657600"/>
            <a:ext cx="14209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OpenZeppelin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798003" y="3657600"/>
            <a:ext cx="916229" cy="310896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798003" y="3657600"/>
            <a:ext cx="91622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Stripe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8823960" y="3657600"/>
            <a:ext cx="832104" cy="310896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823960" y="3657600"/>
            <a:ext cx="832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Clerk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48640" y="4096512"/>
            <a:ext cx="2346350" cy="310896"/>
          </a:xfrm>
          <a:prstGeom prst="roundRect">
            <a:avLst>
              <a:gd name="adj" fmla="val 50000"/>
            </a:avLst>
          </a:prstGeom>
          <a:solidFill>
            <a:srgbClr val="E84142"/>
          </a:solidFill>
          <a:ln w="9525">
            <a:solidFill>
              <a:srgbClr val="E84142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48640" y="4096512"/>
            <a:ext cx="23463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Avalanche Fuji (ตอนนี้)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3004718" y="4096512"/>
            <a:ext cx="2682850" cy="310896"/>
          </a:xfrm>
          <a:prstGeom prst="roundRect">
            <a:avLst>
              <a:gd name="adj" fmla="val 50000"/>
            </a:avLst>
          </a:prstGeom>
          <a:solidFill>
            <a:srgbClr val="B6509E"/>
          </a:solidFill>
          <a:ln w="9525">
            <a:solidFill>
              <a:srgbClr val="B6509E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3004718" y="4096512"/>
            <a:ext cx="2682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Aave · DeFi yield (ในอนาคต)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5797296" y="4096512"/>
            <a:ext cx="2766974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9525">
            <a:solidFill>
              <a:srgbClr val="8B5CF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797296" y="4096512"/>
            <a:ext cx="27669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Tokenomist · $FAIR (ในอนาคต)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ไม่มีฐานข้อมูล: ความเป็นเจ้าของ การขาย และการเช็กอิน อ่านจากสัญญาโดยตรง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114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โมเดลรายได้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3017520" cy="2606040"/>
          </a:xfrm>
          <a:prstGeom prst="roundRect">
            <a:avLst>
              <a:gd name="adj" fmla="val 4211"/>
            </a:avLst>
          </a:prstGeom>
          <a:solidFill>
            <a:srgbClr val="18181B"/>
          </a:solidFill>
          <a:ln w="22225">
            <a:solidFill>
              <a:srgbClr val="4A7BD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44475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4A7BD6"/>
          </a:solidFill>
          <a:ln w="12700">
            <a:solidFill>
              <a:srgbClr val="4A7B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44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รายได้ปัจจุบัน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ตั๋วรอบแรก ($50)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ค่าบริการผู้ซื้อ  $2.50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986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ส่วนแบ่งแพลตฟอร์ม  $1.50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37413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ผู้จัดงานได้  $48.50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749040" y="1280160"/>
            <a:ext cx="3017520" cy="2606040"/>
          </a:xfrm>
          <a:prstGeom prst="roundRect">
            <a:avLst>
              <a:gd name="adj" fmla="val 4211"/>
            </a:avLst>
          </a:prstGeom>
          <a:solidFill>
            <a:srgbClr val="18181B"/>
          </a:solidFill>
          <a:ln w="22225">
            <a:solidFill>
              <a:srgbClr val="4A7B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977640" y="144475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4A7BD6"/>
          </a:solidFill>
          <a:ln w="12700">
            <a:solidFill>
              <a:srgbClr val="4A7B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77640" y="1444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รายได้ปัจจุบัน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397764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การขายต่อ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3977640" y="24231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ค่าธรรมเนียม  15% ของราคาขาย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977640" y="28986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ศิลปิน 10% + แพลตฟอร์ม 5%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977640" y="337413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ผู้ขายได้  85%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949440" y="1280160"/>
            <a:ext cx="1645920" cy="2606040"/>
          </a:xfrm>
          <a:prstGeom prst="roundRect">
            <a:avLst>
              <a:gd name="adj" fmla="val 6667"/>
            </a:avLst>
          </a:prstGeom>
          <a:solidFill>
            <a:srgbClr val="111113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086600" y="14447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แผนในอนาคต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7086600" y="17373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DeFi Yield (Aave)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086600" y="22860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เงิน escrow ฝาก Aave ระหว่างรอ ดอกเบี้ยเป็นรายได้เสริม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086600" y="31546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ตัวอย่างสมมติ: $100,000 × 4% ≈ $4,000/ปี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8640" y="4069080"/>
            <a:ext cx="8046720" cy="731520"/>
          </a:xfrm>
          <a:prstGeom prst="roundRect">
            <a:avLst>
              <a:gd name="adj" fmla="val 15000"/>
            </a:avLst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ตั๋วรอบแรก $50 → ผู้จัดได้ $48.50 · แพลตฟอร์ม $1.50 + ค่าบริการ $2.50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ขายต่อ $120 → ผู้ขายได้ $102 · ค่าธรรมเนียม $18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Roadmap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961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 MVP สู่ระบบที่มีรายได้เสริมจาก DeFi yield และพร้อมใช้งานจริง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" y="1234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  MVP บน Avalanche Fuji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" y="16184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ซื้อด้วยบัตร ขายต่อ QR เข้างาน (Stripe→USDC ยังจำลอง)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060704" y="2066544"/>
            <a:ext cx="164592" cy="164592"/>
          </a:xfrm>
          <a:prstGeom prst="ellipse">
            <a:avLst/>
          </a:prstGeom>
          <a:solidFill>
            <a:srgbClr val="09090B"/>
          </a:solidFill>
          <a:ln w="25400">
            <a:solidFill>
              <a:srgbClr val="4A7B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371600" y="35387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  Avalanche mainnet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392277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 Fuji testnet สู่ mainnet และ L1 เฉพาะระบบตั๋ว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386584" y="3255264"/>
            <a:ext cx="164592" cy="164592"/>
          </a:xfrm>
          <a:prstGeom prst="ellipse">
            <a:avLst/>
          </a:prstGeom>
          <a:solidFill>
            <a:srgbClr val="09090B"/>
          </a:solidFill>
          <a:ln w="25400">
            <a:solidFill>
              <a:srgbClr val="4A7B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97480" y="1234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  Escrow + Aave Yield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697480" y="16184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เงินที่ผู้ซื้อล็อกในคิวฝาก Aave ได้ดอกเบี้ยเป็นรายได้เสริม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712464" y="2066544"/>
            <a:ext cx="164592" cy="164592"/>
          </a:xfrm>
          <a:prstGeom prst="ellipse">
            <a:avLst/>
          </a:prstGeom>
          <a:solidFill>
            <a:srgbClr val="09090B"/>
          </a:solidFill>
          <a:ln w="25400">
            <a:solidFill>
              <a:srgbClr val="4A7B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023360" y="35387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  $FAIR · Tokenomist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023360" y="392277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ล็อกตอนซื้อ ปลดเมื่อสแกนเข้างานจริง พร้อมกราฟโปร่งใส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38344" y="3255264"/>
            <a:ext cx="164592" cy="164592"/>
          </a:xfrm>
          <a:prstGeom prst="ellipse">
            <a:avLst/>
          </a:prstGeom>
          <a:solidFill>
            <a:srgbClr val="09090B"/>
          </a:solidFill>
          <a:ln w="25400">
            <a:solidFill>
              <a:srgbClr val="4A7B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349240" y="1234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  Presale &amp; Merch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349240" y="16184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สิทธิ์ซื้อล่วงหน้าเฉพาะแฟนจริง แลกเสื้อวงและ F&amp;B ด้วยแต้ม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364224" y="2066544"/>
            <a:ext cx="164592" cy="164592"/>
          </a:xfrm>
          <a:prstGeom prst="ellipse">
            <a:avLst/>
          </a:prstGeom>
          <a:solidFill>
            <a:srgbClr val="09090B"/>
          </a:solidFill>
          <a:ln w="25400">
            <a:solidFill>
              <a:srgbClr val="4A7BD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75120" y="35387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  ใช้งานจริง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675120" y="392277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ถอนเงินจริง + KYC, embedded wallet แทน custodial, mainnet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690104" y="3255264"/>
            <a:ext cx="164592" cy="164592"/>
          </a:xfrm>
          <a:prstGeom prst="ellipse">
            <a:avLst/>
          </a:prstGeom>
          <a:solidFill>
            <a:srgbClr val="09090B"/>
          </a:solidFill>
          <a:ln w="25400">
            <a:solidFill>
              <a:srgbClr val="4A7BD6"/>
            </a:solidFill>
            <a:prstDash val="solid"/>
          </a:ln>
        </p:spPr>
      </p:sp>
      <p:pic>
        <p:nvPicPr>
          <p:cNvPr id="23" name="Image 0" descr="Avalanche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645529"/>
            <a:ext cx="1463040" cy="218702"/>
          </a:xfrm>
          <a:prstGeom prst="rect">
            <a:avLst/>
          </a:prstGeom>
        </p:spPr>
      </p:pic>
      <p:pic>
        <p:nvPicPr>
          <p:cNvPr id="24" name="Image 1" descr="Tokenomist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4638175"/>
            <a:ext cx="1188720" cy="233409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023360" y="4599432"/>
            <a:ext cx="850392" cy="310896"/>
          </a:xfrm>
          <a:prstGeom prst="roundRect">
            <a:avLst>
              <a:gd name="adj" fmla="val 50000"/>
            </a:avLst>
          </a:prstGeom>
          <a:solidFill>
            <a:srgbClr val="18181B"/>
          </a:solidFill>
          <a:ln w="15875">
            <a:solidFill>
              <a:srgbClr val="B6509E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142232" y="4700016"/>
            <a:ext cx="109728" cy="109728"/>
          </a:xfrm>
          <a:prstGeom prst="ellipse">
            <a:avLst/>
          </a:prstGeom>
          <a:solidFill>
            <a:srgbClr val="B6509E"/>
          </a:solidFill>
          <a:ln w="12700">
            <a:solidFill>
              <a:srgbClr val="B6509E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315968" y="4599432"/>
            <a:ext cx="484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Aave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12344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ลองเลย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240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A7BD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fairtix-demo.vercel.app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github.com/0PorpienG0/FairTix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3832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บัตรทดสอบ 4242 4242 4242 4242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วันหมดอายุในอนาคต · CVC อะไรก็ได้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69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AFAF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ขอบคุณครับ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572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SPONSORS</a:t>
            </a:r>
            <a:endParaRPr lang="en-US" sz="1000" dirty="0"/>
          </a:p>
        </p:txBody>
      </p:sp>
      <p:pic>
        <p:nvPicPr>
          <p:cNvPr id="9" name="Image 0" descr="ElevenLab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4619747"/>
            <a:ext cx="1371600" cy="178827"/>
          </a:xfrm>
          <a:prstGeom prst="rect">
            <a:avLst/>
          </a:prstGeom>
        </p:spPr>
      </p:pic>
      <p:pic>
        <p:nvPicPr>
          <p:cNvPr id="10" name="Image 1" descr="Tokenomist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592455"/>
            <a:ext cx="1188720" cy="233409"/>
          </a:xfrm>
          <a:prstGeom prst="rect">
            <a:avLst/>
          </a:prstGeom>
        </p:spPr>
      </p:pic>
      <p:pic>
        <p:nvPicPr>
          <p:cNvPr id="11" name="Image 2" descr="DTC Group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578698"/>
            <a:ext cx="1097280" cy="26092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669280" y="1097280"/>
            <a:ext cx="292608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3" descr="QR code to fairtix-demo.vercel.ap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234440"/>
            <a:ext cx="2651760" cy="265176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5669280" y="4160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สแกนเพื่อเปิดเว็บ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FairTix pitch</dc:title>
  <dc:subject>PptxGenJS Presentation</dc:subject>
  <dc:creator>FairTix team</dc:creator>
  <cp:lastModifiedBy>FairTix team</cp:lastModifiedBy>
  <cp:revision>1</cp:revision>
  <dcterms:created xsi:type="dcterms:W3CDTF">2026-10-16T06:02:28Z</dcterms:created>
  <dcterms:modified xsi:type="dcterms:W3CDTF">2026-10-16T06:02:28Z</dcterms:modified>
</cp:coreProperties>
</file>